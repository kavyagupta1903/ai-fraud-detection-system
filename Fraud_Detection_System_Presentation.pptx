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72541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554480"/>
            <a:ext cx="8869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</a:defRPr>
            </a:pPr>
            <a:r>
              <a:t>ENTERPRISE SOFTWARE ENGINEERING | ADVANCED JAVA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</a:defRPr>
            </a:pPr>
            <a:r>
              <a:t>AI-Powered Fraud Detection System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</a:defRPr>
            </a:pPr>
            <a:r>
              <a:t>High-Performance Autonomous Payment Security &amp; Real-Time Risk Analytics</a:t>
            </a:r>
          </a:p>
          <a:p>
            <a:pPr>
              <a:defRPr sz="1300">
                <a:solidFill>
                  <a:srgbClr val="3B82F6"/>
                </a:solidFill>
              </a:defRPr>
            </a:pPr>
            <a:r>
              <a:t>Pure Standard Java | Polymorphic Engine Architecture | Asynchronous Pipeline | Pure JDBC Pooling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Financial Challenge: Fraud at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EF4444"/>
                </a:solidFill>
              </a:defRPr>
            </a:pPr>
            <a:r>
              <a:t>The $38B Annual Threat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Global online payment fraud costs financial institutions over $38B annually.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Sophisticated attacks: automated card velocity testing, identity spoofing, and wire laundering.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Legacy batch processing fails to catch fast fraud before settlement occurs.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9E0B"/>
                </a:solidFill>
              </a:defRPr>
            </a:pPr>
            <a:r>
              <a:t>The False Positive Dilemma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Rigid threshold rules block legitimate customers, causing 15%+ checkout abandonment.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Customer friction leads to direct lost revenue and brand damage.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Need for explainable multivariate scoring over binary blunt blocking.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Our Architectural Solution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Sub-10ms decision latency with dual-strategy hybrid evaluation.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Explainable AI scoring providing transparency to compliance teams.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Zero framework overhead: Pure Java concurrency and thread-safe collections.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Enterprise 4-Tier Architectural Blueprint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0116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6B6D4"/>
                </a:solidFill>
              </a:defRPr>
            </a:pPr>
            <a:r>
              <a:t>1. Presentation Tier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Jakarta EE Servlets &amp; dynamic JSP views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Responsive Bootstrap 5 dark-mode console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Role-based routing: Admin vs User portals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Real-time status badges &amp; triage controls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463040"/>
            <a:ext cx="246888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645920"/>
            <a:ext cx="20116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B82F6"/>
                </a:solidFill>
              </a:defRPr>
            </a:pPr>
            <a:r>
              <a:t>2. Concurrency Pipeline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Producer-Consumer bounded LinkedBlockingQueue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Managed ThreadPoolExecutor daemon workers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Lock-free metrics: AtomicInteger &amp; DoubleAdder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In-memory sliding velocity cache (ConcurrentHashMap)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246888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20116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59E0B"/>
                </a:solidFill>
              </a:defRPr>
            </a:pPr>
            <a:r>
              <a:t>3. AI Detection Engines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Factory Pattern supplying dynamic engines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RuleBasedEngine (velocity, geo, limit heuristics)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MLAnomalyEngine (sigmoid isolation scoring)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HybridEngine ensemble combining both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463040"/>
            <a:ext cx="246888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1645920"/>
            <a:ext cx="20116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4. Pure JDBC Persistence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Custom DBConnectionPool (thread-safe, health checks)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Exclusive PreparedStatement usage (zero SQL injection)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Manual ACID transactions: setAutoCommit(false)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GenericDAO&lt;T, ID&gt; full CRUD contract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Object-Oriented Design &amp; Applied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Inheritance &amp; Polymorphism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Abstract base class 'Transaction' with polymorphic contracts.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'CreditCardTransaction': Card network, CVV match, billing zip.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'WireTransaction': SWIFT/BIC formatting, beneficiary jurisdiction.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Polymorphic baseline risk calculation tailored per payment rail.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402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Factory Pattern (EngineFactory)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Decouples client controllers from concrete detection algorithms.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Dynamic runtime switching: 'RULE_BASED', 'ML_ANOMALY', 'HYBRID'.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Dynamic configuration changes take effect without server restart.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60519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Custom Exception Hierarchy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Root checked exception: 'FraudDetectionException'.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'DatabaseException': Encapsulates SQL errors &amp; pool timeouts.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'ThresholdOutOfBoundsException': Enforces strict risk boundary constraints.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39"/>
            <a:ext cx="5120640" cy="22402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60519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Generic DAO Pattern (GenericDAO&lt;T, ID&gt;)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Generic CRUD interface decouples persistence from services.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Implemented by UserDAO, TransactionDAO, SystemConfigDAO, FraudAlertDAO.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Zero ORM bloat: 100% pure JDBC type-safe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Dual-Model Engine: Deterministic vs AI Heuristic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B82F6"/>
                </a:solidFill>
              </a:defRPr>
            </a:pPr>
            <a:r>
              <a:t>Deterministic Rule-Based Engine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Velocity Anomalies: Detects high transaction frequency within sliding time window (e.g., &gt;3 tx in 10 mins).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Geographic Checks: Flags high-risk OFAC/FATF foreign destinations or unresolved IP locations.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High-Amount Deviation: Checks variance against baseline spending limits ($5,000 threshold).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Technical Rail Checks: CVV mismatch penalty (+0.30) and malformed SWIFT code penalty (+0.25).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Deterministic Output: Explicit triggered rule audit trails.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6B6D4"/>
                </a:solidFill>
              </a:defRPr>
            </a:pPr>
            <a:r>
              <a:t>Machine Learning Anomaly Engine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Multivariate Feature Normalization [0.0 - 1.0]: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• f_amount: Sigmoid non-linear logistic amount curve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• f_velocity: Normalized transaction frequency density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• f_geo: Entropy score for cross-border destinations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• f_device: Unrecognized hardware fingerprint entropy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  • f_rail: Intrinsic base payment rail risk factor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Dynamic Weight Aggregation: Sum(w_i * f_i) / Sum(w_i)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Explainable AI: Outputs transparent feature contribution weights.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High-Throughput Multithreading &amp; Concurrency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Producer-Consumer Pipeline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Bounded LinkedBlockingQueue&lt;Transaction&gt; handles traffic spikes.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Thread backpressure prevents out-of-memory crashes.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Dedicated ThreadPoolExecutor daemon workers process queue in background.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Sub-millisecond enqueuing allows instant UI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Thread-Safe Collections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ConcurrentHashMap: Lock-free reads for system configuration &amp; velocity maps.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CopyOnWriteArrayList: Thread-safe sliding transaction history per user.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PriorityBlockingQueue&lt;FraudAlert&gt;: Automatically surfaces CRITICAL blocked threats ahead of minor warnings.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Lock-Free Metrics Tracking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AtomicInteger: Contention-free tracking for processed, approved, and blocked counts.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DoubleAdder: High-concurrency financial volume and risk accumulation.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Real-time accuracy &amp; false-positive precision tracking in live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Pure JDBC Persistence &amp; Manual ACID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B82F6"/>
                </a:solidFill>
              </a:defRPr>
            </a:pPr>
            <a:r>
              <a:t>Custom DBConnectionPool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Zero third-party pooling frameworks: Built with pure Java java.sql.*.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Thread-Safe Queue: BlockingQueue&lt;Connection&gt; manages pool lifecycle.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Active Health Check: Verifies connection.isValid(2) before distribution.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Leak Prevention: Auto-recovers stale or uncommitted connections.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Dynamic Schema Init: Auto-executes schema.sql and seeds initial data on startup.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Strict Manual ACID Transactions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connection.setAutoCommit(false): Explicit transactional boundaries.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Atomic Multi-Table Inserts: Persists Transaction record and FraudAlert in same unit of work.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Explicit Commit: connection.commit() commits state only upon complete success.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Safe Rollback: connection.rollback() in catch blocks guarantees zero orphaned records.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100% PreparedStatement: Eliminates SQL injection vulnerabilities.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Admin Oversight &amp; Dynamic Risk Tuning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Dynamic Risk Boundaries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Flag Threshold (Review): Defaults to 0.70 (escalates to human triage).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Block Threshold (Hard Stop): Defaults to 0.90 (halts payment immediately).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Strict Validation: Rejects invalid bounds (&lt; 0.0 or Flag &gt;= Block).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Real-Time ML Weight Tuning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Live sliders for Amount, Location, Device, and Velocity weights.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Hot-swaps active detection engine between Rule, ML, and Hybrid.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Immediate persistence to system_configs table and sync across threads.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Human-in-the-Loop Triage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Filterable Live Ledger: Inspect Approved, Under Review, or Blocked.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Analyst Actions: One-click Approve, Block, or Investigate.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False-Positive Feedback Loop: Approving a flagged transaction increments accuracy calibration counters.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User Experience &amp; Payment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1. Payment Initiation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Tabbed Payment Rails: Credit Card vs High-Value Wire Transfer.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Form captures amount, currency, recipient/card, location, device fingerprint, and category.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Option to test instant synchronous evaluation or async queue worker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2. Instant Decision Feedback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Color-Coded Status Badges: Green (APPROVED), Amber (UNDER_REVIEW), Red (BLOCKED).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Risk Score Gauge: Shows exact confidence percentage.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Explainable AI Diagnostic: Displays top anomaly features responsible for the decision.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3. Security Incident Notices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Dedicated Alerts Inbox prioritized by severity (CRITICAL, HIGH, MEDIUM, LOW).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Alerts linked directly to suspicious transactions.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Audit timestamps and user acknowledgment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Automated Verification &amp; Test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566928"/>
          </a:xfrm>
          <a:prstGeom prst="roundRect">
            <a:avLst/>
          </a:prstGeom>
          <a:solidFill>
            <a:srgbClr val="17254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3B82F6"/>
                </a:solidFill>
              </a:rPr>
              <a:t>✔ Test Suite 1: OOP &amp; Polymorphism — </a:t>
            </a:r>
            <a:r>
              <a:rPr sz="1200">
                <a:solidFill>
                  <a:srgbClr val="F8FAFC"/>
                </a:solidFill>
              </a:rPr>
              <a:t>Validates base risk factors for CreditCard vs Wire subclasses.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21408"/>
            <a:ext cx="10698480" cy="566928"/>
          </a:xfrm>
          <a:prstGeom prst="roundRect">
            <a:avLst/>
          </a:prstGeom>
          <a:solidFill>
            <a:srgbClr val="17254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06B6D4"/>
                </a:solidFill>
              </a:rPr>
              <a:t>✔ Test Suite 2: Detection Engines — </a:t>
            </a:r>
            <a:r>
              <a:rPr sz="1200">
                <a:solidFill>
                  <a:srgbClr val="F8FAFC"/>
                </a:solidFill>
              </a:rPr>
              <a:t>Validates Rule-Based and ML Anomaly scoring against safe &amp; high-risk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79776"/>
            <a:ext cx="10698480" cy="566928"/>
          </a:xfrm>
          <a:prstGeom prst="roundRect">
            <a:avLst/>
          </a:prstGeom>
          <a:solidFill>
            <a:srgbClr val="17254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10B981"/>
                </a:solidFill>
              </a:rPr>
              <a:t>✔ Test Suite 3: Generic DAO CRUD — </a:t>
            </a:r>
            <a:r>
              <a:rPr sz="1200">
                <a:solidFill>
                  <a:srgbClr val="F8FAFC"/>
                </a:solidFill>
              </a:rPr>
              <a:t>Verifies pure JDBC persistence, user querying, and schema consistency.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38144"/>
            <a:ext cx="10698480" cy="566928"/>
          </a:xfrm>
          <a:prstGeom prst="roundRect">
            <a:avLst/>
          </a:prstGeom>
          <a:solidFill>
            <a:srgbClr val="17254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11296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F59E0B"/>
                </a:solidFill>
              </a:rPr>
              <a:t>✔ Test Suite 4: Custom Exceptions — </a:t>
            </a:r>
            <a:r>
              <a:rPr sz="1200">
                <a:solidFill>
                  <a:srgbClr val="F8FAFC"/>
                </a:solidFill>
              </a:rPr>
              <a:t>Enforces ThresholdOutOfBoundsException validation on invalid risk inputs.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96512"/>
            <a:ext cx="10698480" cy="566928"/>
          </a:xfrm>
          <a:prstGeom prst="roundRect">
            <a:avLst/>
          </a:prstGeom>
          <a:solidFill>
            <a:srgbClr val="172541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9664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3B82F6"/>
                </a:solidFill>
              </a:rPr>
              <a:t>✔ Test Suite 5: Async Pipeline — </a:t>
            </a:r>
            <a:r>
              <a:rPr sz="1200">
                <a:solidFill>
                  <a:srgbClr val="F8FAFC"/>
                </a:solidFill>
              </a:rPr>
              <a:t>Verifies background worker consumption, persistence, and queue thread-safety.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79"/>
            <a:ext cx="10698480" cy="566928"/>
          </a:xfrm>
          <a:prstGeom prst="roundRect">
            <a:avLst/>
          </a:prstGeom>
          <a:solidFill>
            <a:srgbClr val="172541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28031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EF4444"/>
                </a:solidFill>
              </a:rPr>
              <a:t>✔ Test Suite 6: Priority Alert Triage — </a:t>
            </a:r>
            <a:r>
              <a:rPr sz="1200">
                <a:solidFill>
                  <a:srgbClr val="F8FAFC"/>
                </a:solidFill>
              </a:rPr>
              <a:t>Verifies PriorityBlockingQueue triage ordering (CRITICAL &gt; MEDIUM &gt; LOW).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13248"/>
            <a:ext cx="10698480" cy="566928"/>
          </a:xfrm>
          <a:prstGeom prst="roundRect">
            <a:avLst/>
          </a:prstGeom>
          <a:solidFill>
            <a:srgbClr val="17254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06B6D4"/>
                </a:solidFill>
              </a:rPr>
              <a:t>✔ Test Suite 7: False-Positive Calibration — </a:t>
            </a:r>
            <a:r>
              <a:rPr sz="1200">
                <a:solidFill>
                  <a:srgbClr val="F8FAFC"/>
                </a:solidFill>
              </a:rPr>
              <a:t>Verifies metrics synchronization when an analyst overrides a flagged status.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Deployment &amp; Cloud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Multi-Stage Docker Container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Stage 1: Maven + JDK 21 build container packages JAR &amp; lib/.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Stage 2: Lightweight Alpine JRE runtime image.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Exposes dynamic $PORT environment variable for cloud host compatibility.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Instant Public Bridge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TLS-terminated public HTTPS tunnel bridge.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Accessible globally without opening local firewall ports.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Cross-device mobile-responsive Bootstrap 5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28346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1-Click Cloud Hosting Ready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render.yaml: Automated infrastructure-as-code for Render web services.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Procfile: Ready for Railway, Fly.io, and Heroku deployment.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Git repository initialized with clean commit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FRAUDSHIELD AI ENTERPRISE PLATFORM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Summary &amp; Enterprise Engineering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3B82F6"/>
                </a:solidFill>
              </a:defRPr>
            </a:pPr>
            <a:r>
              <a:t>Core Engineering Competencies Mastered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Robust OOP Abstraction: Polymorphic models and custom exception hierarchy.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Industrial Multithreading: High-throughput Producer-Consumer queue with lock-free atomic telemetry.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Pure Enterprise JDBC: Custom connection pool with manual ACID transaction rollback/commit integrity.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Explainable AI: Multivariate continuous anomaly scoring with dynamic administrative tuning.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17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663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10B981"/>
                </a:solidFill>
              </a:defRPr>
            </a:pPr>
            <a:r>
              <a:t>System Highlights &amp; Credentials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Zero Heavy Framework Overhead: 100% standard Java and Jakarta Servlets.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Instant 1-Click Launch: run.bat / mvnw compile exec:java.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Admin Access: admin / admin123 (Full control &amp; metrics).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User Access: john_doe / password123 (Transactions &amp; alerts).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</a:defRPr>
            </a:pPr>
            <a:r>
              <a:t>• Live Public Deployment: Bridged via secure HTTPS.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